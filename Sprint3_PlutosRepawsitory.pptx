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team and the sprint focus: model training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machine learning challenge: fine-grained classification, class imbalance, and the cost of training from scratch. Transfer learning is the key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Steps 1-3 were Sprints 1-2. Sprint 3 is steps 4-5: training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architectures use transfer learning. Backbone frozen in Phase 1, then fully fine-tuned in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Two-phase training prevents catastrophic forgetting. Phase 1 warms up the new head. Phase 2 adapts the full network at a safer learning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show healthy convergence. ResNet50's val loss drifts slightly upward in Phase 2 — controlled overfitting, addressed with regularization.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Dre's ResNet50 results from the original training run on Colab T4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MobileNetV2 closes the gap to ResNet50 despite being 7x smaller. Strong argument for deployment without a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models is under 0.5% on every metric — impressive given MobileNetV2 is 7x lighter. This makes MobileNetV2 the stronger deployment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up the confusion matrices. The point is that fine-grained visual recognition is genuinely hard — Boston Terrier vs French Bulldog look nearly identical to a casual observer. Our model learned the subtle differences: jowl shape, ear type, body proportions. That's what makes 95-97% accuracy impressive.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perfect confusion matrix has a clean diagonal. Our models are almost there — the few off-diagonal cells are between visually similar breeds, which is expected and close to the human-level difficulty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sprint. Tee up Sprint 4: demo app, deployment, and final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Be ready to pull up the loss curves or confusion matrix if asked. Key talking points: why two models, how the two-phase training worked, and what Sprint 4 will look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PLUTO'S REPAWSITORY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48640" y="1965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Breed Classification CNN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7889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 ·  JULY 2025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520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(Lead)  ·  Cameron  ·  Manuela  ·  Ozor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House — Data Science Fellowship, Phase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breed classification is a fine-grained visual recognition problem. The challenges: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47672"/>
            <a:ext cx="1280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947672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breeds with subtle differences — Labrador vs. Golden, Spaniel variants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816352"/>
            <a:ext cx="1280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816352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image counts per breed — naive models ignore rare classes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685032"/>
            <a:ext cx="1280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3685032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scratch requires massive data; transfer learning solves this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3794760" cy="361188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2344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ImageNet-pretrained CNNs with two-phase fine-tuning and WeightedRandomSampler to handle class imbalance.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breeds  ·  8,692 images  ·  95%+ accuracy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" y="1005840"/>
            <a:ext cx="640080" cy="640080"/>
          </a:xfrm>
          <a:prstGeom prst="ellipse">
            <a:avLst/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18488" y="1298448"/>
            <a:ext cx="5486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distribution, image quality, imbalance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24328" y="1005840"/>
            <a:ext cx="640080" cy="640080"/>
          </a:xfrm>
          <a:prstGeom prst="ellipse">
            <a:avLst/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82696" y="1298448"/>
            <a:ext cx="5486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7128" y="18288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21992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58568" y="23774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metadata store — 8,694 images tracked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88536" y="1005840"/>
            <a:ext cx="640080" cy="640080"/>
          </a:xfrm>
          <a:prstGeom prst="ellipse">
            <a:avLst/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46904" y="1298448"/>
            <a:ext cx="5486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31336" y="18288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86200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22776" y="23774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Augmentation, normalization, class balancing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52744" y="1005840"/>
            <a:ext cx="640080" cy="640080"/>
          </a:xfrm>
          <a:prstGeom prst="ellipse">
            <a:avLst/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52744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11112" y="1298448"/>
            <a:ext cx="5486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18288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50408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86984" y="23774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MobileNetV2, 2-phase transfer learning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16952" y="1005840"/>
            <a:ext cx="640080" cy="640080"/>
          </a:xfrm>
          <a:prstGeom prst="ellipse">
            <a:avLst/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59752" y="1828800"/>
            <a:ext cx="1572768" cy="24688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14616" y="1920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51192" y="23774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confusion matrices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49240" y="1783080"/>
            <a:ext cx="3145536" cy="411480"/>
          </a:xfrm>
          <a:prstGeom prst="roundRect">
            <a:avLst>
              <a:gd name="adj" fmla="val 11111"/>
            </a:avLst>
          </a:prstGeom>
          <a:solidFill>
            <a:srgbClr val="3B5EDB">
              <a:alpha val="15000"/>
            </a:srgbClr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178308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Sprint 3 focus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79476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T4 GPU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~25M total parameters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5328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143,430 trainable (head only, Phase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6265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Deep residual connections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39242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Pretrained on ImageNet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8221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Final layer: Linear(2048 → 70)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1005840"/>
            <a:ext cx="3794760" cy="36576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188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20640" y="16459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CPU · Lightweight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~3.5M total parameters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5328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89,670 trainable (head only, Phase 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9626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Depthwise-separable convolutions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3392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Pretrained on ImageNet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8221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Final layer: Linear(1280 → 70)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 ·  15 Epochs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20116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011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Backbone weights frozen — only new head trains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Head randomly initialized, needs high LR to converge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570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Preserves pretrained ImageNet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782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CrossEntropyLoss + Adam optimizer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 ·  15 Epochs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011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layers unfrozen — full network adapts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0358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10x lower LR to nudge pretrained weights carefully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5570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Weight decay + dropout added for regularization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0782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Stronger augmentation to reduce overfitting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07408" y="2834640"/>
            <a:ext cx="3291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— Both Models</a:t>
            </a:r>
            <a:endParaRPr lang="en-US" sz="3400" dirty="0"/>
          </a:p>
        </p:txBody>
      </p:sp>
      <p:pic>
        <p:nvPicPr>
          <p:cNvPr id="3" name="Image 0" descr="/sessions/vigilant-cool-bohr/mnt/outputs/ozor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8412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ResNet50 converges faster, reaches lower val loss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38328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MobileNetV2 tighter gap — smaller model, less overfitting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6364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Dashed line marks Phase 2 unfreeze point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·  T4 GPU  ·  30 Epochs (15 + 15)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1A307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97.51%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1A307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97.70%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1A307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97.51%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1A307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682 held-out test images across 69 breeds. </a:t>
            </a:r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loss: 0.0643  ·  Regularized: dropout + weight decay + strong augmentation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·  T4 GPU  ·  30 Epochs (15 + 15)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95.75%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96.19%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95.75%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95.68%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7.1x fewer parameters than ResNet50. </a:t>
            </a:r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gap: ~1.8% accuracy — strong result for a 7x lighter model.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005840"/>
          <a:ext cx="694944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377440"/>
              </a:tblGrid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~3.5M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Hardware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GPU (Colab)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GPU (Colab)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 (final)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trained with 2-phase regularized transfer learning on 69 breeds. ResNet50 leads by ~1.8%; MobileNetV2 wins on parameter efficiency.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Fine-Grained Classification is Hard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visually similar breeds have distinct features — and our model learned to tell them apart.</a:t>
            </a:r>
            <a:endParaRPr lang="en-US" sz="1400" dirty="0"/>
          </a:p>
        </p:txBody>
      </p:sp>
      <p:pic>
        <p:nvPicPr>
          <p:cNvPr id="4" name="Image 0" descr="/sessions/vigilant-cool-bohr/mnt/archive/bree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6400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Test 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(left)  ·  MobileNetV2 (right)  ·  69 breeds × 682 test images</a:t>
            </a:r>
            <a:endParaRPr lang="en-US" sz="1300" dirty="0"/>
          </a:p>
        </p:txBody>
      </p:sp>
      <p:pic>
        <p:nvPicPr>
          <p:cNvPr id="4" name="Image 0" descr="/sessions/vigilant-cool-bohr/mnt/outputs/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5953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46227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diagonal on both models. Misclassifications cluster around visually similar breeds — Spaniel variants, Terrier variants.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86200" cy="804672"/>
          </a:xfrm>
          <a:prstGeom prst="roundRect">
            <a:avLst>
              <a:gd name="adj" fmla="val 11364"/>
            </a:avLst>
          </a:prstGeom>
          <a:solidFill>
            <a:srgbClr val="1A3070"/>
          </a:solidFill>
          <a:ln w="12700">
            <a:solidFill>
              <a:srgbClr val="CADCF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74520" y="100584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both models across 69 fine-grained breeds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886200" cy="804672"/>
          </a:xfrm>
          <a:prstGeom prst="roundRect">
            <a:avLst>
              <a:gd name="adj" fmla="val 11364"/>
            </a:avLst>
          </a:prstGeom>
          <a:solidFill>
            <a:srgbClr val="1A3070"/>
          </a:solidFill>
          <a:ln w="12700">
            <a:solidFill>
              <a:srgbClr val="CADCF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6596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9659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 — MobileNetV2 competitive with ResNet50 at 7x fewer params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3886200" cy="804672"/>
          </a:xfrm>
          <a:prstGeom prst="roundRect">
            <a:avLst>
              <a:gd name="adj" fmla="val 11364"/>
            </a:avLst>
          </a:prstGeom>
          <a:solidFill>
            <a:srgbClr val="1A3070"/>
          </a:solidFill>
          <a:ln w="12700">
            <a:solidFill>
              <a:srgbClr val="CADCF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2608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2-phase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4520" y="292608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produced clean, interpretable loss curves with no catastrophic forgetting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3886200" cy="804672"/>
          </a:xfrm>
          <a:prstGeom prst="roundRect">
            <a:avLst>
              <a:gd name="adj" fmla="val 11364"/>
            </a:avLst>
          </a:prstGeom>
          <a:solidFill>
            <a:srgbClr val="1A3070"/>
          </a:solidFill>
          <a:ln w="12700">
            <a:solidFill>
              <a:srgbClr val="CADCF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8620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388620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stronger augmentation reduced overfitting and improved val loss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What's Next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3977640" cy="804672"/>
          </a:xfrm>
          <a:prstGeom prst="roundRect">
            <a:avLst>
              <a:gd name="adj" fmla="val 11364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058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100584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image upload interface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3977640" cy="804672"/>
          </a:xfrm>
          <a:prstGeom prst="roundRect">
            <a:avLst>
              <a:gd name="adj" fmla="val 11364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9659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196596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for shelter use — no code required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3977640" cy="804672"/>
          </a:xfrm>
          <a:prstGeom prst="roundRect">
            <a:avLst>
              <a:gd name="adj" fmla="val 11364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9260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292608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deeper ResNet50 layers for additional gains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3977640" cy="804672"/>
          </a:xfrm>
          <a:prstGeom prst="roundRect">
            <a:avLst>
              <a:gd name="adj" fmla="val 11364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8862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88620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+ live presentation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Pluto's Repawsitory  ·  Group 2  ·  The Knowledge House  ·  Phase 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7432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155448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83464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114800"/>
            <a:ext cx="164592" cy="164592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27" name="Shape 25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3317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3B5EDB"/>
          </a:solidFill>
          <a:ln w="12700">
            <a:solidFill>
              <a:srgbClr val="3B5E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Pluto's Repawsitory  ·  Group 2  ·  Dre · Cameron · Manuela · Ozor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github.com/drehandley/dog-breed-classification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Pluto's Repawsitory — Sprint 3</dc:title>
  <dc:subject>PptxGenJS Presentation</dc:subject>
  <dc:creator>PptxGenJS</dc:creator>
  <cp:lastModifiedBy>PptxGenJS</cp:lastModifiedBy>
  <cp:revision>1</cp:revision>
  <dcterms:created xsi:type="dcterms:W3CDTF">2026-07-08T17:24:04Z</dcterms:created>
  <dcterms:modified xsi:type="dcterms:W3CDTF">2026-07-08T17:24:04Z</dcterms:modified>
</cp:coreProperties>
</file>