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90F"/>
          </a:solidFill>
          <a:ln w="12700">
            <a:solidFill>
              <a:srgbClr val="0909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4747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4A4A6A"/>
                </a:solidFill>
              </a:rPr>
              <a:t>THE KNOWLEDGE HOUSE  ·  DATA SCIENCE FELLOWSHIP  ·  PHASE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9144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-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Pluto's Repawsitory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20040" y="2240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spc="100" kern="0" dirty="0">
                <a:solidFill>
                  <a:srgbClr val="9090B8"/>
                </a:solidFill>
              </a:rPr>
              <a:t>Dog Breed Classification  ·  Sprint 4 Final Presentation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2743200"/>
            <a:ext cx="5029200" cy="16459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926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" y="342900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4A4A6A"/>
                </a:solidFill>
              </a:rPr>
              <a:t>BREEDS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154680" y="2926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95.75%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154680" y="342900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4A4A6A"/>
                </a:solidFill>
              </a:rPr>
              <a:t>ACCURACY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989320" y="2926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8,692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89320" y="342900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4A4A6A"/>
                </a:solidFill>
              </a:rPr>
              <a:t>IMAGES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8823960" y="2926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MobileNetV2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823960" y="342900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4A4A6A"/>
                </a:solidFill>
              </a:rPr>
              <a:t>ARCHITECTURE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20040" y="3794760"/>
            <a:ext cx="11521440" cy="16459"/>
          </a:xfrm>
          <a:prstGeom prst="rect">
            <a:avLst/>
          </a:prstGeom>
          <a:solidFill>
            <a:srgbClr val="4A4A6A"/>
          </a:solidFill>
          <a:ln w="12700">
            <a:solidFill>
              <a:srgbClr val="4A4A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9319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DC2626"/>
                </a:solidFill>
              </a:rPr>
              <a:t>GROUP 2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20040" y="413308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B8"/>
                </a:solidFill>
              </a:rPr>
              <a:t>Dre Handley (Lead)  ·  Cameron Bridgwater  ·  Manuela Chalen  ·  Ozor Moya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46634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6A"/>
                </a:solidFill>
              </a:rPr>
              <a:t>July 15,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90F"/>
          </a:solidFill>
          <a:ln w="12700">
            <a:solidFill>
              <a:srgbClr val="0909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200" kern="0" dirty="0">
                <a:solidFill>
                  <a:srgbClr val="DC2626"/>
                </a:solidFill>
              </a:rPr>
              <a:t>THE PROBLEM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Animal shelters identify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breeds by eye.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Slow. Inconsistent. Error-prone.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090B8"/>
                </a:solidFill>
              </a:rPr>
              <a:t>Misidentified breeds affect adoption listings and housing eligibility for adopters. A dog labeled as the wrong breed can be passed over entirely — or rejected from a building with breed restrictions.</a:t>
            </a:r>
            <a:endParaRPr lang="en-US" sz="1200" dirty="0"/>
          </a:p>
        </p:txBody>
      </p:sp>
      <p:pic>
        <p:nvPicPr>
          <p:cNvPr id="7" name="Image 0" descr="/sessions/vigilant-cool-bohr/mnt/archive/breed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502920"/>
            <a:ext cx="5486400" cy="3749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0" y="4297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6A"/>
                </a:solidFill>
              </a:rPr>
              <a:t>Two visually similar breeds — easily confused on intake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90F"/>
          </a:solidFill>
          <a:ln w="12700">
            <a:solidFill>
              <a:srgbClr val="0909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200" kern="0" dirty="0">
                <a:solidFill>
                  <a:srgbClr val="DC2626"/>
                </a:solidFill>
              </a:rPr>
              <a:t>OUR SOLUTION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photo.</a:t>
            </a:r>
            <a:endParaRPr lang="en-US" sz="5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breed ID.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371600" y="2148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090B8"/>
                </a:solidFill>
              </a:rPr>
              <a:t>We trained a convolutional neural network on 8,692 images across 69 breeds — served through a web app anyone can use in seconds.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880360"/>
            <a:ext cx="3520440" cy="411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21792" y="35478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Upload a photo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385876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090B8"/>
                </a:solidFill>
              </a:rPr>
              <a:t>Drag-and-drop or browse. Any clear photo of a dog works.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51960" y="288036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2880360"/>
            <a:ext cx="3520440" cy="411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416552" y="35478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Neural network scans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16552" y="385876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090B8"/>
                </a:solidFill>
              </a:rPr>
              <a:t>MobileNetV2 processes the image against 69 breed signatures in under a second.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046720" y="288036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2880360"/>
            <a:ext cx="3520440" cy="411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11312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211312" y="35478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Top 3 results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11312" y="385876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090B8"/>
                </a:solidFill>
              </a:rPr>
              <a:t>Primary breed with confidence score, plus two alternatives and breed facts.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200" kern="0" dirty="0">
                <a:solidFill>
                  <a:srgbClr val="DC2626"/>
                </a:solidFill>
              </a:rPr>
              <a:t>BUSINESS CASE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11247120" cy="16459"/>
          </a:xfrm>
          <a:prstGeom prst="rect">
            <a:avLst/>
          </a:prstGeom>
          <a:solidFill>
            <a:srgbClr val="CCCCDD"/>
          </a:solidFill>
          <a:ln w="12700">
            <a:solidFill>
              <a:srgbClr val="CCCC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beyond the classroom.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269748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DD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00200"/>
            <a:ext cx="269748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7373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3,500+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30352" y="26060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33344"/>
                </a:solidFill>
              </a:rPr>
              <a:t>animal shelters in the US intake dogs daily with no automated breed identification tool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600200"/>
            <a:ext cx="269748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DDD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600200"/>
            <a:ext cx="269748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0712" y="17373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Housing</a:t>
            </a:r>
            <a:endParaRPr lang="en-US" sz="3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eligibility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410712" y="26060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33344"/>
                </a:solidFill>
              </a:rPr>
              <a:t>breed restrictions in 73% of rental properties — misidentification directly costs adoptions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600200"/>
            <a:ext cx="269748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DDD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600200"/>
            <a:ext cx="269748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1072" y="17373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 sec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91072" y="26060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33344"/>
                </a:solidFill>
              </a:rPr>
              <a:t>inference time on CPU — no GPU required, deployable on any shelter computer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06840" y="1600200"/>
            <a:ext cx="269748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DDD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06840" y="1600200"/>
            <a:ext cx="269748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71432" y="17373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95.75%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171432" y="26060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33344"/>
                </a:solidFill>
              </a:rPr>
              <a:t>top-1 accuracy across 69 breeds on a held-out test set of 682 images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6634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80"/>
                </a:solidFill>
              </a:rPr>
              <a:t>Deployed as a free, open-source tool — no code required for shelters to use it.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90F"/>
          </a:solidFill>
          <a:ln w="12700">
            <a:solidFill>
              <a:srgbClr val="0909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200" kern="0" dirty="0">
                <a:solidFill>
                  <a:srgbClr val="DC2626"/>
                </a:solidFill>
              </a:rPr>
              <a:t>PIPELINE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6459"/>
          </a:xfrm>
          <a:prstGeom prst="rect">
            <a:avLst/>
          </a:prstGeom>
          <a:solidFill>
            <a:srgbClr val="4A4A6A"/>
          </a:solidFill>
          <a:ln w="12700">
            <a:solidFill>
              <a:srgbClr val="4A4A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71600"/>
            <a:ext cx="1737360" cy="1691640"/>
          </a:xfrm>
          <a:prstGeom prst="roundRect">
            <a:avLst>
              <a:gd name="adj" fmla="val 5405"/>
            </a:avLst>
          </a:prstGeom>
          <a:solidFill>
            <a:srgbClr val="1E3A5F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71600"/>
            <a:ext cx="173736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8132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Kaggle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084832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090B8"/>
                </a:solidFill>
              </a:rPr>
              <a:t>70 Dog Breeds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090B8"/>
                </a:solidFill>
              </a:rPr>
              <a:t>8,692 images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090B8"/>
                </a:solidFill>
              </a:rPr>
              <a:t>69 classes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057400" y="2206447"/>
            <a:ext cx="182880" cy="2286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85416" y="2135124"/>
            <a:ext cx="91440" cy="164592"/>
          </a:xfrm>
          <a:prstGeom prst="rtTriangl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67712" y="1371600"/>
            <a:ext cx="1737360" cy="1691640"/>
          </a:xfrm>
          <a:prstGeom prst="roundRect">
            <a:avLst>
              <a:gd name="adj" fmla="val 5405"/>
            </a:avLst>
          </a:prstGeom>
          <a:solidFill>
            <a:srgbClr val="1E3A2E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67712" y="1371600"/>
            <a:ext cx="173736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59152" y="148132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59152" y="2084832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090B8"/>
                </a:solidFill>
              </a:rPr>
              <a:t>Metadata store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090B8"/>
                </a:solidFill>
              </a:rPr>
              <a:t>file path · label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090B8"/>
                </a:solidFill>
              </a:rPr>
              <a:t>split · quality flags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050792" y="2206447"/>
            <a:ext cx="182880" cy="2286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78808" y="2135124"/>
            <a:ext cx="91440" cy="164592"/>
          </a:xfrm>
          <a:prstGeom prst="rtTriangl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61104" y="1371600"/>
            <a:ext cx="1737360" cy="1691640"/>
          </a:xfrm>
          <a:prstGeom prst="roundRect">
            <a:avLst>
              <a:gd name="adj" fmla="val 5405"/>
            </a:avLst>
          </a:prstGeom>
          <a:solidFill>
            <a:srgbClr val="3A2E1E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61104" y="1371600"/>
            <a:ext cx="173736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52544" y="148132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352544" y="2084832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090B8"/>
                </a:solidFill>
              </a:rPr>
              <a:t>Resize 224×224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090B8"/>
                </a:solidFill>
              </a:rPr>
              <a:t>Augmentation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090B8"/>
                </a:solidFill>
              </a:rPr>
              <a:t>WeightedSampler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044184" y="2206447"/>
            <a:ext cx="182880" cy="2286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2135124"/>
            <a:ext cx="91440" cy="164592"/>
          </a:xfrm>
          <a:prstGeom prst="rtTriangl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54496" y="1371600"/>
            <a:ext cx="1737360" cy="1691640"/>
          </a:xfrm>
          <a:prstGeom prst="roundRect">
            <a:avLst>
              <a:gd name="adj" fmla="val 5405"/>
            </a:avLst>
          </a:prstGeom>
          <a:solidFill>
            <a:srgbClr val="3A1E1E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54496" y="1371600"/>
            <a:ext cx="173736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45936" y="148132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45936" y="2084832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090B8"/>
                </a:solidFill>
              </a:rPr>
              <a:t>MobileNetV2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090B8"/>
                </a:solidFill>
              </a:rPr>
              <a:t>ResNet50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090B8"/>
                </a:solidFill>
              </a:rPr>
              <a:t>2-phase fine-tune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037576" y="2206447"/>
            <a:ext cx="182880" cy="2286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65592" y="2135124"/>
            <a:ext cx="91440" cy="164592"/>
          </a:xfrm>
          <a:prstGeom prst="rtTriangl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47888" y="1371600"/>
            <a:ext cx="1737360" cy="1691640"/>
          </a:xfrm>
          <a:prstGeom prst="roundRect">
            <a:avLst>
              <a:gd name="adj" fmla="val 5405"/>
            </a:avLst>
          </a:prstGeom>
          <a:solidFill>
            <a:srgbClr val="2E1E3A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47888" y="1371600"/>
            <a:ext cx="173736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39328" y="148132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.pt file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339328" y="2084832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090B8"/>
                </a:solidFill>
              </a:rPr>
              <a:t>9.1 MB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090B8"/>
                </a:solidFill>
              </a:rPr>
              <a:t>CPU inference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090B8"/>
                </a:solidFill>
              </a:rPr>
              <a:t>95.75% acc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0030968" y="2206447"/>
            <a:ext cx="182880" cy="2286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158984" y="2135124"/>
            <a:ext cx="91440" cy="164592"/>
          </a:xfrm>
          <a:prstGeom prst="rtTriangl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241280" y="1371600"/>
            <a:ext cx="1737360" cy="1691640"/>
          </a:xfrm>
          <a:prstGeom prst="roundRect">
            <a:avLst>
              <a:gd name="adj" fmla="val 5405"/>
            </a:avLst>
          </a:prstGeom>
          <a:solidFill>
            <a:srgbClr val="1E2E3A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241280" y="1371600"/>
            <a:ext cx="173736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332720" y="148132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332720" y="2084832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090B8"/>
                </a:solidFill>
              </a:rPr>
              <a:t>POST /predict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090B8"/>
                </a:solidFill>
              </a:rPr>
              <a:t>Top-3 breeds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090B8"/>
                </a:solidFill>
              </a:rPr>
              <a:t>localhost:8000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74320" y="3291840"/>
            <a:ext cx="1161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4A4A6A"/>
                </a:solidFill>
              </a:rPr>
              <a:t>Raw Data  →  Structured Metadata  →  Normalized Tensors  →  Trained Weights  →  Live Predictions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74320" y="358444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4A4A6A"/>
                </a:solidFill>
              </a:rPr>
              <a:t>Sprint 1–2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2267712" y="358444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4A4A6A"/>
                </a:solidFill>
              </a:rPr>
              <a:t>Sprint 2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261104" y="358444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4A4A6A"/>
                </a:solidFill>
              </a:rPr>
              <a:t>Sprint 3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254496" y="358444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4A4A6A"/>
                </a:solidFill>
              </a:rPr>
              <a:t>Sprint 3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8247888" y="358444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4A4A6A"/>
                </a:solidFill>
              </a:rPr>
              <a:t>Sprint 3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10241280" y="358444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4A4A6A"/>
                </a:solidFill>
              </a:rPr>
              <a:t>Sprint 4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90F"/>
          </a:solidFill>
          <a:ln w="12700">
            <a:solidFill>
              <a:srgbClr val="0909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200" kern="0" dirty="0">
                <a:solidFill>
                  <a:srgbClr val="DC2626"/>
                </a:solidFill>
              </a:rPr>
              <a:t>DATASET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Kaggle: 70 Dog Breeds Image Dataset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6A"/>
                </a:solidFill>
              </a:rPr>
              <a:t>gpiosenka  ·  kaggle.com/datasets/gpiosenka/70-dog-breedsimage-data-set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7772400" cy="16459"/>
          </a:xfrm>
          <a:prstGeom prst="rect">
            <a:avLst/>
          </a:prstGeom>
          <a:solidFill>
            <a:srgbClr val="4A4A6A"/>
          </a:solidFill>
          <a:ln w="12700">
            <a:solidFill>
              <a:srgbClr val="4A4A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8288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21792" y="24871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0B8"/>
                </a:solidFill>
              </a:rPr>
              <a:t>breed classes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169164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0712" y="18288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8,692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10712" y="24871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0B8"/>
                </a:solidFill>
              </a:rPr>
              <a:t>total images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35040" y="169164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18288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 / 15 / 15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199632" y="24871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0B8"/>
                </a:solidFill>
              </a:rPr>
              <a:t>train / valid / test split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823960" y="169164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88552" y="18288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224×224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988552" y="24871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0B8"/>
                </a:solidFill>
              </a:rPr>
              <a:t>input resolution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246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Why 70/15/15 instead of 80/20?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547872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090B8"/>
                </a:solidFill>
              </a:rPr>
              <a:t>More validation images across 69 rare breeds means the validation signal is meaningful — not dominated by the most common classes. The larger test set gives a statistically reliable final accuracy number.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4348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Class imbalance challenge: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690872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090B8"/>
                </a:solidFill>
              </a:rPr>
              <a:t>Some breeds had significantly fewer images than others. Solved with PyTorch WeightedRandomSampler so underrepresented breeds weren't skipped during training.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200" kern="0" dirty="0">
                <a:solidFill>
                  <a:srgbClr val="DC2626"/>
                </a:solidFill>
              </a:rPr>
              <a:t>SPRINT 2  ·  DATABASE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 Metadata Store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70"/>
                </a:solidFill>
              </a:rPr>
              <a:t>Every image tracked before a single pixel of preprocessing ran.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1247120" cy="16459"/>
          </a:xfrm>
          <a:prstGeom prst="rect">
            <a:avLst/>
          </a:prstGeom>
          <a:solidFill>
            <a:srgbClr val="CCCCDD"/>
          </a:solidFill>
          <a:ln w="12700">
            <a:solidFill>
              <a:srgbClr val="CCCC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28800"/>
            <a:ext cx="1033272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82880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</a:rPr>
              <a:t>Column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852928" y="182880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</a:rPr>
              <a:t>Type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681728" y="1828800"/>
            <a:ext cx="6108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</a:rPr>
              <a:t>Description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2176272"/>
            <a:ext cx="10332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176272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852928" y="2176272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PK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81728" y="2176272"/>
            <a:ext cx="6108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Auto-increment unique identifier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2523744"/>
            <a:ext cx="10332720" cy="347472"/>
          </a:xfrm>
          <a:prstGeom prst="rect">
            <a:avLst/>
          </a:prstGeom>
          <a:solidFill>
            <a:srgbClr val="EEEEF6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523744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file_path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852928" y="2523744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81728" y="2523744"/>
            <a:ext cx="6108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path to image file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2871216"/>
            <a:ext cx="10332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2871216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852928" y="2871216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81728" y="2871216"/>
            <a:ext cx="6108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Breed class name (cleaned)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3218688"/>
            <a:ext cx="10332720" cy="347472"/>
          </a:xfrm>
          <a:prstGeom prst="rect">
            <a:avLst/>
          </a:prstGeom>
          <a:solidFill>
            <a:srgbClr val="EEEEF6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218688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852928" y="3218688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81728" y="3218688"/>
            <a:ext cx="6108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valid / test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7200" y="3566160"/>
            <a:ext cx="10332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356616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852928" y="356616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681728" y="3566160"/>
            <a:ext cx="6108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width in pixels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" y="3913632"/>
            <a:ext cx="10332720" cy="347472"/>
          </a:xfrm>
          <a:prstGeom prst="rect">
            <a:avLst/>
          </a:prstGeom>
          <a:solidFill>
            <a:srgbClr val="EEEEF6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3913632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height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852928" y="3913632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681728" y="3913632"/>
            <a:ext cx="6108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height in pixels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" y="4261104"/>
            <a:ext cx="10332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4261104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quality_flag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852928" y="4261104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681728" y="4261104"/>
            <a:ext cx="6108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ok, 1 = flagged for review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57200" y="466344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99"/>
                </a:solidFill>
              </a:rPr>
              <a:t>8,692 rows  ·  All images catalogued before any preprocessing  ·  Label whitespace bugs fixed at ingest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90F"/>
          </a:solidFill>
          <a:ln w="12700">
            <a:solidFill>
              <a:srgbClr val="0909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200" kern="0" dirty="0">
                <a:solidFill>
                  <a:srgbClr val="DC2626"/>
                </a:solidFill>
              </a:rPr>
              <a:t>SPRINT 3  ·  PREPROCESSING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training 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47120" cy="16459"/>
          </a:xfrm>
          <a:prstGeom prst="rect">
            <a:avLst/>
          </a:prstGeom>
          <a:solidFill>
            <a:srgbClr val="4A4A6A"/>
          </a:solidFill>
          <a:ln w="12700">
            <a:solidFill>
              <a:srgbClr val="4A4A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7160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71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3533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Resize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20440" y="135331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090B8"/>
                </a:solidFill>
              </a:rPr>
              <a:t>All images resized to 224×224 px to match ImageNet pretraining dimensions of MobileNetV2 and ResNet50.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14400" y="1783080"/>
            <a:ext cx="10835640" cy="16459"/>
          </a:xfrm>
          <a:prstGeom prst="rect">
            <a:avLst/>
          </a:prstGeom>
          <a:solidFill>
            <a:srgbClr val="4A4A6A"/>
          </a:solidFill>
          <a:ln w="12700">
            <a:solidFill>
              <a:srgbClr val="4A4A6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33172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331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3134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Normalize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20440" y="23134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090B8"/>
                </a:solidFill>
              </a:rPr>
              <a:t>Mean [0.485, 0.456, 0.406] and std [0.229, 0.224, 0.225] — same values used during ImageNet training. Applied identically at inference.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14400" y="2743200"/>
            <a:ext cx="10835640" cy="16459"/>
          </a:xfrm>
          <a:prstGeom prst="rect">
            <a:avLst/>
          </a:prstGeom>
          <a:solidFill>
            <a:srgbClr val="4A4A6A"/>
          </a:solidFill>
          <a:ln w="12700">
            <a:solidFill>
              <a:srgbClr val="4A4A6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29184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291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32735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Augmentation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(train only)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20440" y="32735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090B8"/>
                </a:solidFill>
              </a:rPr>
              <a:t>Random horizontal flip · random rotation ±15° · color jitter (brightness, contrast, saturation). Applied only to training set — validation and test sets see clean images only.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14400" y="3703320"/>
            <a:ext cx="10835640" cy="16459"/>
          </a:xfrm>
          <a:prstGeom prst="rect">
            <a:avLst/>
          </a:prstGeom>
          <a:solidFill>
            <a:srgbClr val="4A4A6A"/>
          </a:solidFill>
          <a:ln w="12700">
            <a:solidFill>
              <a:srgbClr val="4A4A6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425196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251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42336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WeightedRandomSampler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20440" y="423367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090B8"/>
                </a:solidFill>
              </a:rPr>
              <a:t>Computed per-class weights so each batch represents all 69 breeds proportionally, preventing majority classes from dominating gradient updates.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14400" y="4663440"/>
            <a:ext cx="10835640" cy="16459"/>
          </a:xfrm>
          <a:prstGeom prst="rect">
            <a:avLst/>
          </a:prstGeom>
          <a:solidFill>
            <a:srgbClr val="4A4A6A"/>
          </a:solidFill>
          <a:ln w="12700">
            <a:solidFill>
              <a:srgbClr val="4A4A6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521208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5212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51937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 Dataset class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520440" y="51937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090B8"/>
                </a:solidFill>
              </a:rPr>
              <a:t>PyTorch Dataset subclass reads from SQLite DB split column — clean separation of train/valid/test with zero data leakage.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90F"/>
          </a:solidFill>
          <a:ln w="12700">
            <a:solidFill>
              <a:srgbClr val="0909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200" kern="0" dirty="0">
                <a:solidFill>
                  <a:srgbClr val="DC2626"/>
                </a:solidFill>
              </a:rPr>
              <a:t>ARCHITECTURE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MobileNetV2 + Transfer Learning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47120" cy="16459"/>
          </a:xfrm>
          <a:prstGeom prst="rect">
            <a:avLst/>
          </a:prstGeom>
          <a:solidFill>
            <a:srgbClr val="4A4A6A"/>
          </a:solidFill>
          <a:ln w="12700">
            <a:solidFill>
              <a:srgbClr val="4A4A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6858000" cy="749808"/>
          </a:xfrm>
          <a:prstGeom prst="roundRect">
            <a:avLst>
              <a:gd name="adj" fmla="val 9756"/>
            </a:avLst>
          </a:prstGeom>
          <a:solidFill>
            <a:srgbClr val="111119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26464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ImageNet Pretrained Backbone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1719072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0B8"/>
                </a:solidFill>
              </a:rPr>
              <a:t>MobileNetV2 feature extractor — depthwise-separable convolutions optimized for speed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6858000" cy="749808"/>
          </a:xfrm>
          <a:prstGeom prst="roundRect">
            <a:avLst>
              <a:gd name="adj" fmla="val 9756"/>
            </a:avLst>
          </a:prstGeom>
          <a:solidFill>
            <a:srgbClr val="111119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340864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Frozen Phase (Epochs 1–15)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2633472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0B8"/>
                </a:solidFill>
              </a:rPr>
              <a:t>Only classifier head trained. Backbone weights locked — fast convergence, stable gradients.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6858000" cy="749808"/>
          </a:xfrm>
          <a:prstGeom prst="roundRect">
            <a:avLst>
              <a:gd name="adj" fmla="val 9756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200400"/>
            <a:ext cx="45720" cy="7498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255264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Dropout(0.5)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3547872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0B8"/>
                </a:solidFill>
              </a:rPr>
              <a:t>Applied before the linear layer to prevent overfitting during fine-tuning.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6858000" cy="749808"/>
          </a:xfrm>
          <a:prstGeom prst="roundRect">
            <a:avLst>
              <a:gd name="adj" fmla="val 9756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114800"/>
            <a:ext cx="45720" cy="7498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4169664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Linear(1280 → 69)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" y="4462272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0B8"/>
                </a:solidFill>
              </a:rPr>
              <a:t>Custom head replaces ImageNet's 1000-class output with our 69 breed classes.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5029200"/>
            <a:ext cx="6858000" cy="749808"/>
          </a:xfrm>
          <a:prstGeom prst="roundRect">
            <a:avLst>
              <a:gd name="adj" fmla="val 9756"/>
            </a:avLst>
          </a:prstGeom>
          <a:solidFill>
            <a:srgbClr val="111119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5084064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Fine-tune Phase (Epochs 16–30)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" y="5376672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0B8"/>
                </a:solidFill>
              </a:rPr>
              <a:t>All layers unfrozen. Full backprop with lower learning rate across the entire network.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772400" y="137160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0" y="146304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~3.5M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7955280" y="1920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090B8"/>
                </a:solidFill>
              </a:rPr>
              <a:t>parameters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772400" y="251460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0" y="260604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1s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7955280" y="3063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090B8"/>
                </a:solidFill>
              </a:rPr>
              <a:t>CPU inference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772400" y="365760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0" y="374904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9.1 MB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7955280" y="4206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090B8"/>
                </a:solidFill>
              </a:rPr>
              <a:t>model file size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772400" y="480060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55280" y="489204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224×224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7955280" y="5349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090B8"/>
                </a:solidFill>
              </a:rPr>
              <a:t>input size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200" kern="0" dirty="0">
                <a:solidFill>
                  <a:srgbClr val="DC2626"/>
                </a:solidFill>
              </a:rPr>
              <a:t>RESULTS  ·  MODEL COMPARISON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ResNet50 vs. MobileNetV2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47120" cy="16459"/>
          </a:xfrm>
          <a:prstGeom prst="rect">
            <a:avLst/>
          </a:prstGeom>
          <a:solidFill>
            <a:srgbClr val="CCCCDD"/>
          </a:solidFill>
          <a:ln w="12700">
            <a:solidFill>
              <a:srgbClr val="CCCC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11247120" cy="3840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173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</a:rPr>
              <a:t>Metric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063240" y="141732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</a:rPr>
              <a:t>ResNet50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89320" y="141732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</a:rPr>
              <a:t>MobileNetV2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915400" y="141732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</a:rPr>
              <a:t>Difference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1801368"/>
            <a:ext cx="11247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80136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</a:rPr>
              <a:t>Accuracy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063240" y="1801368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55"/>
                </a:solidFill>
              </a:rPr>
              <a:t>97.51%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89320" y="1801368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55"/>
                </a:solidFill>
              </a:rPr>
              <a:t>95.75%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915400" y="1801368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55"/>
                </a:solidFill>
              </a:rPr>
              <a:t>−1.76 pp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203704"/>
            <a:ext cx="11247120" cy="402336"/>
          </a:xfrm>
          <a:prstGeom prst="rect">
            <a:avLst/>
          </a:prstGeom>
          <a:solidFill>
            <a:srgbClr val="EEEEF6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203704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</a:rPr>
              <a:t>Precision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063240" y="2203704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55"/>
                </a:solidFill>
              </a:rPr>
              <a:t>97.70%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89320" y="2203704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55"/>
                </a:solidFill>
              </a:rPr>
              <a:t>96.19%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915400" y="2203704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55"/>
                </a:solidFill>
              </a:rPr>
              <a:t>−1.51 pp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606040"/>
            <a:ext cx="11247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60604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</a:rPr>
              <a:t>Recall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063240" y="2606040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55"/>
                </a:solidFill>
              </a:rPr>
              <a:t>97.51%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989320" y="2606040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55"/>
                </a:solidFill>
              </a:rPr>
              <a:t>95.75%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915400" y="2606040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55"/>
                </a:solidFill>
              </a:rPr>
              <a:t>−1.76 pp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008376"/>
            <a:ext cx="11247120" cy="402336"/>
          </a:xfrm>
          <a:prstGeom prst="rect">
            <a:avLst/>
          </a:prstGeom>
          <a:solidFill>
            <a:srgbClr val="EEEEF6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008376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</a:rPr>
              <a:t>F1 Score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063240" y="3008376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55"/>
                </a:solidFill>
              </a:rPr>
              <a:t>97.52%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989320" y="3008376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55"/>
                </a:solidFill>
              </a:rPr>
              <a:t>95.68%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915400" y="3008376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55"/>
                </a:solidFill>
              </a:rPr>
              <a:t>−1.84 pp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3410712"/>
            <a:ext cx="11247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41071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</a:rPr>
              <a:t>Parameters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063240" y="3410712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55"/>
                </a:solidFill>
              </a:rPr>
              <a:t>~25M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989320" y="3410712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</a:rPr>
              <a:t>~3.5M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915400" y="3410712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55"/>
                </a:solidFill>
              </a:rPr>
              <a:t>86% smaller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3813048"/>
            <a:ext cx="11247120" cy="402336"/>
          </a:xfrm>
          <a:prstGeom prst="rect">
            <a:avLst/>
          </a:prstGeom>
          <a:solidFill>
            <a:srgbClr val="EEEEF6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381304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</a:rPr>
              <a:t>Training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063240" y="3813048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55"/>
                </a:solidFill>
              </a:rPr>
              <a:t>Colab T4 GPU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989320" y="3813048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</a:rPr>
              <a:t>Local CPU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915400" y="3813048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55"/>
                </a:solidFill>
              </a:rPr>
              <a:t>No GPU needed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4215384"/>
            <a:ext cx="11247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4215384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</a:rPr>
              <a:t>Model size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063240" y="4215384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55"/>
                </a:solidFill>
              </a:rPr>
              <a:t>~100 MB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989320" y="4215384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</a:rPr>
              <a:t>9.1 MB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915400" y="4215384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55"/>
                </a:solidFill>
              </a:rPr>
              <a:t>91% smaller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7200" y="4617720"/>
            <a:ext cx="11247120" cy="402336"/>
          </a:xfrm>
          <a:prstGeom prst="rect">
            <a:avLst/>
          </a:prstGeom>
          <a:solidFill>
            <a:srgbClr val="EEEEF6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4360" y="461772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</a:rPr>
              <a:t>Deployed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063240" y="4617720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55"/>
                </a:solidFill>
              </a:rPr>
              <a:t>No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989320" y="4617720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</a:rPr>
              <a:t>Yes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915400" y="4617720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55"/>
                </a:solidFill>
              </a:rPr>
              <a:t>Production ready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57200" y="51389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80"/>
                </a:solidFill>
              </a:rPr>
              <a:t>We chose MobileNetV2 for deployment — the 1.76pp accuracy difference is not worth the 86% parameter increase and GPU requirement.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90F"/>
          </a:solidFill>
          <a:ln w="12700">
            <a:solidFill>
              <a:srgbClr val="0909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200" kern="0" dirty="0">
                <a:solidFill>
                  <a:srgbClr val="DC2626"/>
                </a:solidFill>
              </a:rPr>
              <a:t>DEPLOYMENT DECISION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MobileNetV2 for production?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47120" cy="16459"/>
          </a:xfrm>
          <a:prstGeom prst="rect">
            <a:avLst/>
          </a:prstGeom>
          <a:solidFill>
            <a:srgbClr val="4A4A6A"/>
          </a:solidFill>
          <a:ln w="12700">
            <a:solidFill>
              <a:srgbClr val="4A4A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5577840" cy="1920240"/>
          </a:xfrm>
          <a:prstGeom prst="roundRect">
            <a:avLst>
              <a:gd name="adj" fmla="val 3810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8191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9.1 MB vs ~100 MB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002536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4A4A6A"/>
                </a:solidFill>
              </a:rPr>
              <a:t>SIZE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85800" y="2258568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9090B8"/>
                </a:solidFill>
              </a:rPr>
              <a:t>Fits in any deployment environment. No large file hosting or slow downloads. A shelter can run this on any machine.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309360" y="1417320"/>
            <a:ext cx="5577840" cy="1920240"/>
          </a:xfrm>
          <a:prstGeom prst="roundRect">
            <a:avLst>
              <a:gd name="adj" fmla="val 3810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58191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 second on CPU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2002536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4A4A6A"/>
                </a:solidFill>
              </a:rPr>
              <a:t>SPEED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6537960" y="2258568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9090B8"/>
                </a:solidFill>
              </a:rPr>
              <a:t>No GPU required. Inference runs locally on any standard computer — no cloud dependency, no latency, no cost per prediction.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5577840" cy="1920240"/>
          </a:xfrm>
          <a:prstGeom prst="roundRect">
            <a:avLst>
              <a:gd name="adj" fmla="val 3810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73075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95.75% — good enough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5800" y="4151376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4A4A6A"/>
                </a:solidFill>
              </a:rPr>
              <a:t>ACCURACY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85800" y="4407408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9090B8"/>
                </a:solidFill>
              </a:rPr>
              <a:t>The 1.76 percentage-point gap vs ResNet50 does not justify 7× more parameters and requiring a GPU. 95.75% accuracy is production-quality for this use case.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309360" y="3566160"/>
            <a:ext cx="5577840" cy="1920240"/>
          </a:xfrm>
          <a:prstGeom prst="roundRect">
            <a:avLst>
              <a:gd name="adj" fmla="val 3810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373075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Depthwise-separable convolutions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37960" y="4151376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4A4A6A"/>
                </a:solidFill>
              </a:rPr>
              <a:t>ARCHITECTURE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537960" y="4407408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9090B8"/>
                </a:solidFill>
              </a:rPr>
              <a:t>Designed for mobile and edge deployment. Each convolution factored into depth + pointwise — far fewer multiply-adds than a standard convolution.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90F"/>
          </a:solidFill>
          <a:ln w="12700">
            <a:solidFill>
              <a:srgbClr val="0909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200" kern="0" dirty="0">
                <a:solidFill>
                  <a:srgbClr val="DC2626"/>
                </a:solidFill>
              </a:rPr>
              <a:t>TRAINING  ·  LOSS CURVES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models trained 30 epochs — 2-phase strategy</a:t>
            </a:r>
            <a:endParaRPr lang="en-US" sz="2600" dirty="0"/>
          </a:p>
        </p:txBody>
      </p:sp>
      <p:pic>
        <p:nvPicPr>
          <p:cNvPr id="5" name="Image 0" descr="/sessions/vigilant-cool-bohr/mnt/archive/ozor_loss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11247120" cy="38587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12064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4A4A6A"/>
                </a:solidFill>
              </a:rPr>
              <a:t>Phase 1 (epochs 1–15): backbone frozen, only classifier head trained  ·  Phase 2 (epoch 15+): full fine-tuning, all layers unfrozen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200" kern="0" dirty="0">
                <a:solidFill>
                  <a:srgbClr val="DC2626"/>
                </a:solidFill>
              </a:rPr>
              <a:t>RESULTS  ·  CONFUSION MATRIX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Near-perfect diagonal across 69 classes</a:t>
            </a:r>
            <a:endParaRPr lang="en-US" sz="2600" dirty="0"/>
          </a:p>
        </p:txBody>
      </p:sp>
      <p:pic>
        <p:nvPicPr>
          <p:cNvPr id="5" name="Image 0" descr="/sessions/vigilant-cool-bohr/mnt/archive/outputs/resnet50_confus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188720"/>
            <a:ext cx="9418320" cy="3749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04748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80"/>
                </a:solidFill>
              </a:rPr>
              <a:t>Misclassifications cluster around visually similar breeds: Golden Retriever ↔ Labrador, similar Terrier varieties.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90F"/>
          </a:solidFill>
          <a:ln w="12700">
            <a:solidFill>
              <a:srgbClr val="0909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200" kern="0" dirty="0">
                <a:solidFill>
                  <a:srgbClr val="DC2626"/>
                </a:solidFill>
              </a:rPr>
              <a:t>SPRINT 4  ·  DEMO APP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Pluto's Repawsitory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247120" cy="16459"/>
          </a:xfrm>
          <a:prstGeom prst="rect">
            <a:avLst/>
          </a:prstGeom>
          <a:solidFill>
            <a:srgbClr val="4A4A6A"/>
          </a:solidFill>
          <a:ln w="12700">
            <a:solidFill>
              <a:srgbClr val="4A4A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517904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17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14630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Scan View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86537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090B8"/>
                </a:solidFill>
              </a:rPr>
              <a:t>Upload or drag-and-drop a dog photo. Animated neural scan overlay runs while the model processes. Returns top 3 breed predictions with confidence scores.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14400" y="2542032"/>
            <a:ext cx="10789920" cy="16459"/>
          </a:xfrm>
          <a:prstGeom prst="rect">
            <a:avLst/>
          </a:prstGeom>
          <a:solidFill>
            <a:srgbClr val="4A4A6A"/>
          </a:solidFill>
          <a:ln w="12700">
            <a:solidFill>
              <a:srgbClr val="4A4A6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688336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26334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Breed Library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3035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090B8"/>
                </a:solidFill>
              </a:rPr>
              <a:t>69 breed cards with real dog photos pulled live from the Dog CEO API. Filter by group (Herding, Hound, Sporting, Terrier, Toy, Working, and more) or search by name.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14400" y="3712464"/>
            <a:ext cx="10789920" cy="16459"/>
          </a:xfrm>
          <a:prstGeom prst="rect">
            <a:avLst/>
          </a:prstGeom>
          <a:solidFill>
            <a:srgbClr val="4A4A6A"/>
          </a:solidFill>
          <a:ln w="12700">
            <a:solidFill>
              <a:srgbClr val="4A4A6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858768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858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380390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Breed Modal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4206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090B8"/>
                </a:solidFill>
              </a:rPr>
              <a:t>Slide-up detail sheet for each breed: hero photo, classification group, breed story, and animated base stat bars (Loyalty, Intelligence, Energy, Fluffiness, Trainability, Friendliness).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14400" y="4882896"/>
            <a:ext cx="10789920" cy="16459"/>
          </a:xfrm>
          <a:prstGeom prst="rect">
            <a:avLst/>
          </a:prstGeom>
          <a:solidFill>
            <a:srgbClr val="4A4A6A"/>
          </a:solidFill>
          <a:ln w="12700">
            <a:solidFill>
              <a:srgbClr val="4A4A6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502920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5029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" y="497433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Tech Stack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537667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090B8"/>
                </a:solidFill>
              </a:rPr>
              <a:t>FastAPI backend · PyTorch MobileNetV2 · Vanilla JS frontend · Docker ready for Hugging Face Spaces deployment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90F"/>
          </a:solidFill>
          <a:ln w="12700">
            <a:solidFill>
              <a:srgbClr val="0909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12"/>
          </a:solidFill>
          <a:ln w="12700">
            <a:solidFill>
              <a:srgbClr val="0A0A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11247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spc="-300" kern="0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11247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spc="-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</a:t>
            </a:r>
            <a:endParaRPr lang="en-US" sz="12000" dirty="0"/>
          </a:p>
        </p:txBody>
      </p:sp>
      <p:sp>
        <p:nvSpPr>
          <p:cNvPr id="6" name="Shape 4"/>
          <p:cNvSpPr/>
          <p:nvPr/>
        </p:nvSpPr>
        <p:spPr>
          <a:xfrm>
            <a:off x="1828800" y="4206240"/>
            <a:ext cx="8503920" cy="16459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37083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9090B8"/>
                </a:solidFill>
              </a:rPr>
              <a:t>localhost:8000  ·  Upload any dog photo  ·  Watch the model identify the breed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200" kern="0" dirty="0">
                <a:solidFill>
                  <a:srgbClr val="DC2626"/>
                </a:solidFill>
              </a:rPr>
              <a:t>THE TEAM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2 — The Knowledge House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47120" cy="16459"/>
          </a:xfrm>
          <a:prstGeom prst="rect">
            <a:avLst/>
          </a:prstGeom>
          <a:solidFill>
            <a:srgbClr val="CCCCDD"/>
          </a:solidFill>
          <a:ln w="12700">
            <a:solidFill>
              <a:srgbClr val="CCCC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2697480" cy="35204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DD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17320"/>
            <a:ext cx="269748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727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Dre Handley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9385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888899"/>
                </a:solidFill>
              </a:rPr>
              <a:t>GROUP LEAD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02920" y="2212848"/>
            <a:ext cx="2423160" cy="16459"/>
          </a:xfrm>
          <a:prstGeom prst="rect">
            <a:avLst/>
          </a:prstGeom>
          <a:solidFill>
            <a:srgbClr val="CCCCDD"/>
          </a:solidFill>
          <a:ln w="12700">
            <a:solidFill>
              <a:srgbClr val="CCCC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774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44455"/>
                </a:solidFill>
              </a:rPr>
              <a:t>· FastAPI backend architecture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288950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44455"/>
                </a:solidFill>
              </a:rPr>
              <a:t>· SQLite metadata database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2920" y="34015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44455"/>
                </a:solidFill>
              </a:rPr>
              <a:t>· Frontend: scan + library + modal UI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" y="391363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44455"/>
                </a:solidFill>
              </a:rPr>
              <a:t>· Project structure and GitHub management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46120" y="1417320"/>
            <a:ext cx="2697480" cy="35204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DDD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1417320"/>
            <a:ext cx="269748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15727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Cameron Bridgwater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19385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888899"/>
                </a:solidFill>
              </a:rPr>
              <a:t>DATA ENGINEER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383280" y="2212848"/>
            <a:ext cx="2423160" cy="16459"/>
          </a:xfrm>
          <a:prstGeom prst="rect">
            <a:avLst/>
          </a:prstGeom>
          <a:solidFill>
            <a:srgbClr val="CCCCDD"/>
          </a:solidFill>
          <a:ln w="12700">
            <a:solidFill>
              <a:srgbClr val="CCCC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23774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44455"/>
                </a:solidFill>
              </a:rPr>
              <a:t>· Full pipeline ERD diagram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383280" y="288950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44455"/>
                </a:solidFill>
              </a:rPr>
              <a:t>· Data cleaning and label fixes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383280" y="34015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44455"/>
                </a:solidFill>
              </a:rPr>
              <a:t>· Training loop implementation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383280" y="391363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44455"/>
                </a:solidFill>
              </a:rPr>
              <a:t>· Integration testing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26480" y="1417320"/>
            <a:ext cx="2697480" cy="35204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DDD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1417320"/>
            <a:ext cx="269748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15727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Manuela Chalen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19385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888899"/>
                </a:solidFill>
              </a:rPr>
              <a:t>ML ENGINEER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6263640" y="2212848"/>
            <a:ext cx="2423160" cy="16459"/>
          </a:xfrm>
          <a:prstGeom prst="rect">
            <a:avLst/>
          </a:prstGeom>
          <a:solidFill>
            <a:srgbClr val="CCCCDD"/>
          </a:solidFill>
          <a:ln w="12700">
            <a:solidFill>
              <a:srgbClr val="CCCC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23774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44455"/>
                </a:solidFill>
              </a:rPr>
              <a:t>· Preprocessing pipeline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263640" y="288950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44455"/>
                </a:solidFill>
              </a:rPr>
              <a:t>· Augmentation strategy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63640" y="34015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44455"/>
                </a:solidFill>
              </a:rPr>
              <a:t>· Model evaluation and metrics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263640" y="391363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44455"/>
                </a:solidFill>
              </a:rPr>
              <a:t>· Performance summary analysis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9006840" y="1417320"/>
            <a:ext cx="2697480" cy="35204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DDD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06840" y="1417320"/>
            <a:ext cx="269748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0" y="15727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Ozor Moya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144000" y="19385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888899"/>
                </a:solidFill>
              </a:rPr>
              <a:t>ML ENGINEER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9144000" y="2212848"/>
            <a:ext cx="2423160" cy="16459"/>
          </a:xfrm>
          <a:prstGeom prst="rect">
            <a:avLst/>
          </a:prstGeom>
          <a:solidFill>
            <a:srgbClr val="CCCCDD"/>
          </a:solidFill>
          <a:ln w="12700">
            <a:solidFill>
              <a:srgbClr val="CCCC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0" y="23774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44455"/>
                </a:solidFill>
              </a:rPr>
              <a:t>· Class imbalance solution (WeightedRandomSampler)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9144000" y="288950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44455"/>
                </a:solidFill>
              </a:rPr>
              <a:t>· Loss curves and training visualization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9144000" y="34015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44455"/>
                </a:solidFill>
              </a:rPr>
              <a:t>· Model export (.pt file)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9144000" y="391363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44455"/>
                </a:solidFill>
              </a:rPr>
              <a:t>· ResNet50 Colab training run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90F"/>
          </a:solidFill>
          <a:ln w="12700">
            <a:solidFill>
              <a:srgbClr val="0909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200" kern="0" dirty="0">
                <a:solidFill>
                  <a:srgbClr val="DC2626"/>
                </a:solidFill>
              </a:rPr>
              <a:t>WHAT'S NEXT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goes from here.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47120" cy="16459"/>
          </a:xfrm>
          <a:prstGeom prst="rect">
            <a:avLst/>
          </a:prstGeom>
          <a:solidFill>
            <a:srgbClr val="4A4A6A"/>
          </a:solidFill>
          <a:ln w="12700">
            <a:solidFill>
              <a:srgbClr val="4A4A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4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234440" y="1463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Fine-tune ResNet50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18196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090B8"/>
                </a:solidFill>
              </a:rPr>
              <a:t>Unfreeze deeper layers for additional accuracy gains — ResNet50 at 97.51% has room to improve with a longer training schedule and learning rate warmup.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11247120" cy="16459"/>
          </a:xfrm>
          <a:prstGeom prst="rect">
            <a:avLst/>
          </a:prstGeom>
          <a:solidFill>
            <a:srgbClr val="4A4A6A"/>
          </a:solidFill>
          <a:ln w="12700">
            <a:solidFill>
              <a:srgbClr val="4A4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96312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4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234440" y="25420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Mixed-breed identification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4440" y="28986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090B8"/>
                </a:solidFill>
              </a:rPr>
              <a:t>Current model assumes purebred. A multi-label classification head could return probability distributions across parent breeds.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502152"/>
            <a:ext cx="11247120" cy="16459"/>
          </a:xfrm>
          <a:prstGeom prst="rect">
            <a:avLst/>
          </a:prstGeom>
          <a:solidFill>
            <a:srgbClr val="4A4A6A"/>
          </a:solidFill>
          <a:ln w="12700">
            <a:solidFill>
              <a:srgbClr val="4A4A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575304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4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234440" y="362102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Shelter deployment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4440" y="39776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090B8"/>
                </a:solidFill>
              </a:rPr>
              <a:t>Package as a containerized tool shelters can self-host. Add CSV export of intake predictions for database integration.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4581144"/>
            <a:ext cx="11247120" cy="16459"/>
          </a:xfrm>
          <a:prstGeom prst="rect">
            <a:avLst/>
          </a:prstGeom>
          <a:solidFill>
            <a:srgbClr val="4A4A6A"/>
          </a:solidFill>
          <a:ln w="12700">
            <a:solidFill>
              <a:srgbClr val="4A4A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654296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4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234440" y="470001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Expand breed coverage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34440" y="505663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090B8"/>
                </a:solidFill>
              </a:rPr>
              <a:t>Current dataset covers 69 breeds. Stanford Dogs Dataset (120 breeds) would significantly expand real-world coverage.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90F"/>
          </a:solidFill>
          <a:ln w="12700">
            <a:solidFill>
              <a:srgbClr val="0909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spc="-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365760" y="2606040"/>
            <a:ext cx="7315200" cy="16459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788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090B8"/>
                </a:solidFill>
              </a:rPr>
              <a:t>Pluto's Repawsitory  ·  Group 2  ·  The Knowledge House Data Science Fellowship, Phase 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32004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0B8"/>
                </a:solidFill>
              </a:rPr>
              <a:t>Dre Handley · Cameron Bridgwater · Manuela Chalen · Ozor Moya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3749040"/>
            <a:ext cx="11521440" cy="16459"/>
          </a:xfrm>
          <a:prstGeom prst="rect">
            <a:avLst/>
          </a:prstGeom>
          <a:solidFill>
            <a:srgbClr val="4A4A6A"/>
          </a:solidFill>
          <a:ln w="12700">
            <a:solidFill>
              <a:srgbClr val="4A4A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931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4A4A6A"/>
                </a:solidFill>
              </a:rPr>
              <a:t>MODEL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737360" y="3931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90B8"/>
                </a:solidFill>
              </a:rPr>
              <a:t>MobileNetV2  ·  95.75% accuracy  ·  69 breeds  ·  9.1 MB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43159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4A4A6A"/>
                </a:solidFill>
              </a:rPr>
              <a:t>DATASET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737360" y="431596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90B8"/>
                </a:solidFill>
              </a:rPr>
              <a:t>Kaggle: gpiosenka / 70-dog-breedsimage-data-set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470001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4A4A6A"/>
                </a:solidFill>
              </a:rPr>
              <a:t>APP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737360" y="4700016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90B8"/>
                </a:solidFill>
              </a:rPr>
              <a:t>FastAPI + PyTorch  ·  localhost:8000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2026-07-14T21:18:33Z</dcterms:created>
  <dcterms:modified xsi:type="dcterms:W3CDTF">2026-07-14T21:18:33Z</dcterms:modified>
</cp:coreProperties>
</file>